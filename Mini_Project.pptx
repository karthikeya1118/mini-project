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1"/>
  </p:sld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0799C5-3389-41C4-94B2-447FF0C4E5F2}" v="26" dt="2026-03-29T13:33:00.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ishetti KARTHIKEYA" userId="19b95cc7a2214f91" providerId="LiveId" clId="{8E60CF5D-38A5-413F-B883-2467863EC80E}"/>
    <pc:docChg chg="undo custSel addSld delSld modSld">
      <pc:chgData name="Gopishetti KARTHIKEYA" userId="19b95cc7a2214f91" providerId="LiveId" clId="{8E60CF5D-38A5-413F-B883-2467863EC80E}" dt="2026-03-29T13:33:36.999" v="978" actId="20577"/>
      <pc:docMkLst>
        <pc:docMk/>
      </pc:docMkLst>
      <pc:sldChg chg="modSp mod">
        <pc:chgData name="Gopishetti KARTHIKEYA" userId="19b95cc7a2214f91" providerId="LiveId" clId="{8E60CF5D-38A5-413F-B883-2467863EC80E}" dt="2026-03-29T13:16:23.015" v="909" actId="1076"/>
        <pc:sldMkLst>
          <pc:docMk/>
          <pc:sldMk cId="114162471" sldId="256"/>
        </pc:sldMkLst>
        <pc:spChg chg="mod">
          <ac:chgData name="Gopishetti KARTHIKEYA" userId="19b95cc7a2214f91" providerId="LiveId" clId="{8E60CF5D-38A5-413F-B883-2467863EC80E}" dt="2026-03-29T13:15:40.743" v="906" actId="1076"/>
          <ac:spMkLst>
            <pc:docMk/>
            <pc:sldMk cId="114162471" sldId="256"/>
            <ac:spMk id="6" creationId="{76114D4E-E575-6E8F-77E0-F0CCA01211D5}"/>
          </ac:spMkLst>
        </pc:spChg>
        <pc:spChg chg="mod">
          <ac:chgData name="Gopishetti KARTHIKEYA" userId="19b95cc7a2214f91" providerId="LiveId" clId="{8E60CF5D-38A5-413F-B883-2467863EC80E}" dt="2026-03-29T13:16:13.866" v="908" actId="1076"/>
          <ac:spMkLst>
            <pc:docMk/>
            <pc:sldMk cId="114162471" sldId="256"/>
            <ac:spMk id="9" creationId="{9A88EE2D-2FCB-1B6C-1AB8-1B9C8D93395C}"/>
          </ac:spMkLst>
        </pc:spChg>
        <pc:picChg chg="mod">
          <ac:chgData name="Gopishetti KARTHIKEYA" userId="19b95cc7a2214f91" providerId="LiveId" clId="{8E60CF5D-38A5-413F-B883-2467863EC80E}" dt="2026-03-29T13:15:32.229" v="905" actId="1076"/>
          <ac:picMkLst>
            <pc:docMk/>
            <pc:sldMk cId="114162471" sldId="256"/>
            <ac:picMk id="5" creationId="{86762B48-D2F0-AC8B-AAD4-F89EB70A8711}"/>
          </ac:picMkLst>
        </pc:picChg>
        <pc:picChg chg="mod">
          <ac:chgData name="Gopishetti KARTHIKEYA" userId="19b95cc7a2214f91" providerId="LiveId" clId="{8E60CF5D-38A5-413F-B883-2467863EC80E}" dt="2026-03-29T13:16:23.015" v="909" actId="1076"/>
          <ac:picMkLst>
            <pc:docMk/>
            <pc:sldMk cId="114162471" sldId="256"/>
            <ac:picMk id="8" creationId="{393A68EA-A1AD-8073-2878-B7BEFB747AC1}"/>
          </ac:picMkLst>
        </pc:picChg>
      </pc:sldChg>
      <pc:sldChg chg="addSp delSp modSp new mod">
        <pc:chgData name="Gopishetti KARTHIKEYA" userId="19b95cc7a2214f91" providerId="LiveId" clId="{8E60CF5D-38A5-413F-B883-2467863EC80E}" dt="2026-03-29T13:17:54.249" v="931" actId="20577"/>
        <pc:sldMkLst>
          <pc:docMk/>
          <pc:sldMk cId="3421787979" sldId="257"/>
        </pc:sldMkLst>
        <pc:spChg chg="del mod">
          <ac:chgData name="Gopishetti KARTHIKEYA" userId="19b95cc7a2214f91" providerId="LiveId" clId="{8E60CF5D-38A5-413F-B883-2467863EC80E}" dt="2026-03-29T13:16:45.253" v="912" actId="478"/>
          <ac:spMkLst>
            <pc:docMk/>
            <pc:sldMk cId="3421787979" sldId="257"/>
            <ac:spMk id="2" creationId="{0FD38D85-6DA8-F858-A8B8-C257DE6AFAAE}"/>
          </ac:spMkLst>
        </pc:spChg>
        <pc:spChg chg="add mod">
          <ac:chgData name="Gopishetti KARTHIKEYA" userId="19b95cc7a2214f91" providerId="LiveId" clId="{8E60CF5D-38A5-413F-B883-2467863EC80E}" dt="2026-03-09T19:23:26.197" v="844" actId="1076"/>
          <ac:spMkLst>
            <pc:docMk/>
            <pc:sldMk cId="3421787979" sldId="257"/>
            <ac:spMk id="3" creationId="{AFB06DDA-678F-9883-1E53-46A80579C47E}"/>
          </ac:spMkLst>
        </pc:spChg>
        <pc:spChg chg="add del mod">
          <ac:chgData name="Gopishetti KARTHIKEYA" userId="19b95cc7a2214f91" providerId="LiveId" clId="{8E60CF5D-38A5-413F-B883-2467863EC80E}" dt="2026-03-29T13:16:48.367" v="913" actId="478"/>
          <ac:spMkLst>
            <pc:docMk/>
            <pc:sldMk cId="3421787979" sldId="257"/>
            <ac:spMk id="5" creationId="{D8F12CA7-C7A3-400E-42FD-80466F146BCA}"/>
          </ac:spMkLst>
        </pc:spChg>
        <pc:spChg chg="add mod">
          <ac:chgData name="Gopishetti KARTHIKEYA" userId="19b95cc7a2214f91" providerId="LiveId" clId="{8E60CF5D-38A5-413F-B883-2467863EC80E}" dt="2026-03-29T13:17:54.249" v="931" actId="20577"/>
          <ac:spMkLst>
            <pc:docMk/>
            <pc:sldMk cId="3421787979" sldId="257"/>
            <ac:spMk id="6" creationId="{1C396176-B238-DDBA-24F3-0D7A96B58789}"/>
          </ac:spMkLst>
        </pc:spChg>
      </pc:sldChg>
      <pc:sldChg chg="addSp delSp modSp new mod">
        <pc:chgData name="Gopishetti KARTHIKEYA" userId="19b95cc7a2214f91" providerId="LiveId" clId="{8E60CF5D-38A5-413F-B883-2467863EC80E}" dt="2026-03-09T19:23:47.836" v="846" actId="1076"/>
        <pc:sldMkLst>
          <pc:docMk/>
          <pc:sldMk cId="370908036" sldId="258"/>
        </pc:sldMkLst>
        <pc:spChg chg="add mod">
          <ac:chgData name="Gopishetti KARTHIKEYA" userId="19b95cc7a2214f91" providerId="LiveId" clId="{8E60CF5D-38A5-413F-B883-2467863EC80E}" dt="2026-03-09T19:23:47.836" v="846" actId="1076"/>
          <ac:spMkLst>
            <pc:docMk/>
            <pc:sldMk cId="370908036" sldId="258"/>
            <ac:spMk id="4" creationId="{B894A627-9EB5-BBAF-8BFC-FCA2C3DE93AC}"/>
          </ac:spMkLst>
        </pc:spChg>
        <pc:spChg chg="add mod">
          <ac:chgData name="Gopishetti KARTHIKEYA" userId="19b95cc7a2214f91" providerId="LiveId" clId="{8E60CF5D-38A5-413F-B883-2467863EC80E}" dt="2026-03-09T19:23:43.570" v="845" actId="1076"/>
          <ac:spMkLst>
            <pc:docMk/>
            <pc:sldMk cId="370908036" sldId="258"/>
            <ac:spMk id="5" creationId="{5D3E9D21-FE70-292D-B59A-54084BE24744}"/>
          </ac:spMkLst>
        </pc:spChg>
      </pc:sldChg>
      <pc:sldChg chg="addSp delSp modSp new mod">
        <pc:chgData name="Gopishetti KARTHIKEYA" userId="19b95cc7a2214f91" providerId="LiveId" clId="{8E60CF5D-38A5-413F-B883-2467863EC80E}" dt="2026-03-09T19:23:59.904" v="848" actId="1076"/>
        <pc:sldMkLst>
          <pc:docMk/>
          <pc:sldMk cId="4252838664" sldId="259"/>
        </pc:sldMkLst>
        <pc:spChg chg="add mod">
          <ac:chgData name="Gopishetti KARTHIKEYA" userId="19b95cc7a2214f91" providerId="LiveId" clId="{8E60CF5D-38A5-413F-B883-2467863EC80E}" dt="2026-03-09T19:23:59.904" v="848" actId="1076"/>
          <ac:spMkLst>
            <pc:docMk/>
            <pc:sldMk cId="4252838664" sldId="259"/>
            <ac:spMk id="4" creationId="{1464B588-B45D-C973-AAEF-77A358BA3200}"/>
          </ac:spMkLst>
        </pc:spChg>
        <pc:spChg chg="add mod">
          <ac:chgData name="Gopishetti KARTHIKEYA" userId="19b95cc7a2214f91" providerId="LiveId" clId="{8E60CF5D-38A5-413F-B883-2467863EC80E}" dt="2026-03-09T19:23:55.684" v="847" actId="1076"/>
          <ac:spMkLst>
            <pc:docMk/>
            <pc:sldMk cId="4252838664" sldId="259"/>
            <ac:spMk id="5" creationId="{D1DCB35C-66CD-0386-6102-310287BE64B8}"/>
          </ac:spMkLst>
        </pc:spChg>
      </pc:sldChg>
      <pc:sldChg chg="addSp delSp modSp new mod">
        <pc:chgData name="Gopishetti KARTHIKEYA" userId="19b95cc7a2214f91" providerId="LiveId" clId="{8E60CF5D-38A5-413F-B883-2467863EC80E}" dt="2026-03-09T19:24:12.275" v="850" actId="1076"/>
        <pc:sldMkLst>
          <pc:docMk/>
          <pc:sldMk cId="3493449319" sldId="260"/>
        </pc:sldMkLst>
        <pc:spChg chg="add mod">
          <ac:chgData name="Gopishetti KARTHIKEYA" userId="19b95cc7a2214f91" providerId="LiveId" clId="{8E60CF5D-38A5-413F-B883-2467863EC80E}" dt="2026-03-09T19:24:06.635" v="849" actId="1076"/>
          <ac:spMkLst>
            <pc:docMk/>
            <pc:sldMk cId="3493449319" sldId="260"/>
            <ac:spMk id="4" creationId="{8B43C975-43F4-F865-602D-8BB8C6FB73B1}"/>
          </ac:spMkLst>
        </pc:spChg>
        <pc:spChg chg="add mod">
          <ac:chgData name="Gopishetti KARTHIKEYA" userId="19b95cc7a2214f91" providerId="LiveId" clId="{8E60CF5D-38A5-413F-B883-2467863EC80E}" dt="2026-03-09T19:24:12.275" v="850" actId="1076"/>
          <ac:spMkLst>
            <pc:docMk/>
            <pc:sldMk cId="3493449319" sldId="260"/>
            <ac:spMk id="5" creationId="{C0CA8F8D-390E-329F-2BEE-18EE2784CDBD}"/>
          </ac:spMkLst>
        </pc:spChg>
      </pc:sldChg>
      <pc:sldChg chg="addSp delSp modSp new mod">
        <pc:chgData name="Gopishetti KARTHIKEYA" userId="19b95cc7a2214f91" providerId="LiveId" clId="{8E60CF5D-38A5-413F-B883-2467863EC80E}" dt="2026-03-09T19:24:35.159" v="852" actId="1076"/>
        <pc:sldMkLst>
          <pc:docMk/>
          <pc:sldMk cId="131574645" sldId="261"/>
        </pc:sldMkLst>
        <pc:spChg chg="add mod">
          <ac:chgData name="Gopishetti KARTHIKEYA" userId="19b95cc7a2214f91" providerId="LiveId" clId="{8E60CF5D-38A5-413F-B883-2467863EC80E}" dt="2026-03-09T19:24:24.689" v="851" actId="1076"/>
          <ac:spMkLst>
            <pc:docMk/>
            <pc:sldMk cId="131574645" sldId="261"/>
            <ac:spMk id="4" creationId="{F274629C-D956-DF56-1CA3-696EE6C6334E}"/>
          </ac:spMkLst>
        </pc:spChg>
        <pc:spChg chg="add mod">
          <ac:chgData name="Gopishetti KARTHIKEYA" userId="19b95cc7a2214f91" providerId="LiveId" clId="{8E60CF5D-38A5-413F-B883-2467863EC80E}" dt="2026-03-09T19:24:35.159" v="852" actId="1076"/>
          <ac:spMkLst>
            <pc:docMk/>
            <pc:sldMk cId="131574645" sldId="261"/>
            <ac:spMk id="5" creationId="{C145D86D-115A-2D6C-099A-57BD72DB1559}"/>
          </ac:spMkLst>
        </pc:spChg>
      </pc:sldChg>
      <pc:sldChg chg="addSp delSp modSp new mod">
        <pc:chgData name="Gopishetti KARTHIKEYA" userId="19b95cc7a2214f91" providerId="LiveId" clId="{8E60CF5D-38A5-413F-B883-2467863EC80E}" dt="2026-03-09T19:25:18.498" v="859" actId="1076"/>
        <pc:sldMkLst>
          <pc:docMk/>
          <pc:sldMk cId="3564402346" sldId="262"/>
        </pc:sldMkLst>
        <pc:spChg chg="add mod">
          <ac:chgData name="Gopishetti KARTHIKEYA" userId="19b95cc7a2214f91" providerId="LiveId" clId="{8E60CF5D-38A5-413F-B883-2467863EC80E}" dt="2026-03-09T19:24:52.682" v="854" actId="1076"/>
          <ac:spMkLst>
            <pc:docMk/>
            <pc:sldMk cId="3564402346" sldId="262"/>
            <ac:spMk id="4" creationId="{17228643-BF4B-74E9-FB4C-A9F16C00A1B5}"/>
          </ac:spMkLst>
        </pc:spChg>
        <pc:picChg chg="add mod">
          <ac:chgData name="Gopishetti KARTHIKEYA" userId="19b95cc7a2214f91" providerId="LiveId" clId="{8E60CF5D-38A5-413F-B883-2467863EC80E}" dt="2026-03-09T19:25:18.498" v="859" actId="1076"/>
          <ac:picMkLst>
            <pc:docMk/>
            <pc:sldMk cId="3564402346" sldId="262"/>
            <ac:picMk id="3" creationId="{2B15F57A-2101-AD68-C2F7-1D9F4CB0EDA2}"/>
          </ac:picMkLst>
        </pc:picChg>
      </pc:sldChg>
      <pc:sldChg chg="modSp new mod">
        <pc:chgData name="Gopishetti KARTHIKEYA" userId="19b95cc7a2214f91" providerId="LiveId" clId="{8E60CF5D-38A5-413F-B883-2467863EC80E}" dt="2026-03-29T13:15:17.963" v="904"/>
        <pc:sldMkLst>
          <pc:docMk/>
          <pc:sldMk cId="1763496613" sldId="263"/>
        </pc:sldMkLst>
        <pc:spChg chg="mod">
          <ac:chgData name="Gopishetti KARTHIKEYA" userId="19b95cc7a2214f91" providerId="LiveId" clId="{8E60CF5D-38A5-413F-B883-2467863EC80E}" dt="2026-03-29T13:15:17.963" v="904"/>
          <ac:spMkLst>
            <pc:docMk/>
            <pc:sldMk cId="1763496613" sldId="263"/>
            <ac:spMk id="2" creationId="{8CABDFA8-26F2-7781-B1D2-F9F949B953FB}"/>
          </ac:spMkLst>
        </pc:spChg>
        <pc:spChg chg="mod">
          <ac:chgData name="Gopishetti KARTHIKEYA" userId="19b95cc7a2214f91" providerId="LiveId" clId="{8E60CF5D-38A5-413F-B883-2467863EC80E}" dt="2026-03-09T19:25:27.636" v="860" actId="1076"/>
          <ac:spMkLst>
            <pc:docMk/>
            <pc:sldMk cId="1763496613" sldId="263"/>
            <ac:spMk id="3" creationId="{F0C3C6B3-998F-7159-BA7E-315BE3D6D7DD}"/>
          </ac:spMkLst>
        </pc:spChg>
      </pc:sldChg>
      <pc:sldChg chg="addSp delSp modSp new mod">
        <pc:chgData name="Gopishetti KARTHIKEYA" userId="19b95cc7a2214f91" providerId="LiveId" clId="{8E60CF5D-38A5-413F-B883-2467863EC80E}" dt="2026-03-29T13:33:36.999" v="978" actId="20577"/>
        <pc:sldMkLst>
          <pc:docMk/>
          <pc:sldMk cId="4284489886" sldId="265"/>
        </pc:sldMkLst>
        <pc:spChg chg="add mod">
          <ac:chgData name="Gopishetti KARTHIKEYA" userId="19b95cc7a2214f91" providerId="LiveId" clId="{8E60CF5D-38A5-413F-B883-2467863EC80E}" dt="2026-03-29T13:33:36.999" v="978" actId="20577"/>
          <ac:spMkLst>
            <pc:docMk/>
            <pc:sldMk cId="4284489886" sldId="265"/>
            <ac:spMk id="12" creationId="{162256E0-C519-9494-C28A-F249381FA91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1735594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2326364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4223750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6C17E4-6317-4F82-AC86-25F2AA0D6B3A}" type="datetimeFigureOut">
              <a:rPr lang="en-IN" smtClean="0"/>
              <a:t>29-03-2026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3740326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C17E4-6317-4F82-AC86-25F2AA0D6B3A}" type="datetimeFigureOut">
              <a:rPr lang="en-IN" smtClean="0"/>
              <a:t>29-03-2026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3859204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C17E4-6317-4F82-AC86-25F2AA0D6B3A}" type="datetimeFigureOut">
              <a:rPr lang="en-IN" smtClean="0"/>
              <a:t>29-03-2026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24190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C17E4-6317-4F82-AC86-25F2AA0D6B3A}" type="datetimeFigureOut">
              <a:rPr lang="en-IN" smtClean="0"/>
              <a:t>29-03-2026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93197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6C17E4-6317-4F82-AC86-25F2AA0D6B3A}" type="datetimeFigureOut">
              <a:rPr lang="en-IN" smtClean="0"/>
              <a:t>29-03-2026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3359295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6C17E4-6317-4F82-AC86-25F2AA0D6B3A}" type="datetimeFigureOut">
              <a:rPr lang="en-IN" smtClean="0"/>
              <a:t>29-03-2026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193560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3722460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19975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2234049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49006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4166054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2663650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6C17E4-6317-4F82-AC86-25F2AA0D6B3A}"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4794D-1772-4AAA-B2F3-7836C31FFA5C}" type="slidenum">
              <a:rPr lang="en-IN" smtClean="0"/>
              <a:t>‹#›</a:t>
            </a:fld>
            <a:endParaRPr lang="en-IN"/>
          </a:p>
        </p:txBody>
      </p:sp>
    </p:spTree>
    <p:extLst>
      <p:ext uri="{BB962C8B-B14F-4D97-AF65-F5344CB8AC3E}">
        <p14:creationId xmlns:p14="http://schemas.microsoft.com/office/powerpoint/2010/main" val="2998530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6C17E4-6317-4F82-AC86-25F2AA0D6B3A}" type="datetimeFigureOut">
              <a:rPr lang="en-IN" smtClean="0"/>
              <a:t>29-03-2026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454794D-1772-4AAA-B2F3-7836C31FFA5C}" type="slidenum">
              <a:rPr lang="en-IN" smtClean="0"/>
              <a:t>‹#›</a:t>
            </a:fld>
            <a:endParaRPr lang="en-IN"/>
          </a:p>
        </p:txBody>
      </p:sp>
    </p:spTree>
    <p:extLst>
      <p:ext uri="{BB962C8B-B14F-4D97-AF65-F5344CB8AC3E}">
        <p14:creationId xmlns:p14="http://schemas.microsoft.com/office/powerpoint/2010/main" val="3578530258"/>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 id="2147483928" r:id="rId14"/>
    <p:sldLayoutId id="2147483929" r:id="rId15"/>
    <p:sldLayoutId id="214748393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762B48-D2F0-AC8B-AAD4-F89EB70A8711}"/>
              </a:ext>
            </a:extLst>
          </p:cNvPr>
          <p:cNvPicPr>
            <a:picLocks noChangeAspect="1"/>
          </p:cNvPicPr>
          <p:nvPr/>
        </p:nvPicPr>
        <p:blipFill>
          <a:blip r:embed="rId2"/>
          <a:stretch>
            <a:fillRect/>
          </a:stretch>
        </p:blipFill>
        <p:spPr>
          <a:xfrm>
            <a:off x="2285999" y="203022"/>
            <a:ext cx="5205711" cy="1541005"/>
          </a:xfrm>
          <a:prstGeom prst="rect">
            <a:avLst/>
          </a:prstGeom>
        </p:spPr>
      </p:pic>
      <p:sp>
        <p:nvSpPr>
          <p:cNvPr id="6" name="TextBox 5">
            <a:extLst>
              <a:ext uri="{FF2B5EF4-FFF2-40B4-BE49-F238E27FC236}">
                <a16:creationId xmlns:a16="http://schemas.microsoft.com/office/drawing/2014/main" id="{76114D4E-E575-6E8F-77E0-F0CCA01211D5}"/>
              </a:ext>
            </a:extLst>
          </p:cNvPr>
          <p:cNvSpPr txBox="1"/>
          <p:nvPr/>
        </p:nvSpPr>
        <p:spPr>
          <a:xfrm>
            <a:off x="-196647" y="1951672"/>
            <a:ext cx="11248105" cy="1477328"/>
          </a:xfrm>
          <a:prstGeom prst="rect">
            <a:avLst/>
          </a:prstGeom>
          <a:noFill/>
        </p:spPr>
        <p:txBody>
          <a:bodyPr wrap="square" rtlCol="0">
            <a:spAutoFit/>
          </a:bodyPr>
          <a:lstStyle/>
          <a:p>
            <a:pPr algn="ctr"/>
            <a:r>
              <a:rPr lang="en-IN" b="1" noProof="1"/>
              <a:t>Department of Computer Science and Engineering (Data Science) </a:t>
            </a:r>
          </a:p>
          <a:p>
            <a:pPr algn="ctr"/>
            <a:r>
              <a:rPr lang="en-IN" b="1" noProof="1"/>
              <a:t>VI Semester MINI project : </a:t>
            </a:r>
          </a:p>
          <a:p>
            <a:pPr algn="ctr"/>
            <a:br>
              <a:rPr lang="en-IN" b="1" noProof="1"/>
            </a:br>
            <a:r>
              <a:rPr lang="en-IN" b="1" u="sng" noProof="1"/>
              <a:t>Data Driven Modeling of Salary Dynamics across Job Roles in 2024 </a:t>
            </a:r>
          </a:p>
          <a:p>
            <a:pPr algn="ctr"/>
            <a:r>
              <a:rPr lang="en-IN" b="1" u="sng" noProof="1"/>
              <a:t>using  predictive Machine Learning</a:t>
            </a:r>
            <a:endParaRPr lang="en-IN" u="sng" noProof="1"/>
          </a:p>
        </p:txBody>
      </p:sp>
      <p:pic>
        <p:nvPicPr>
          <p:cNvPr id="8" name="Picture 7">
            <a:extLst>
              <a:ext uri="{FF2B5EF4-FFF2-40B4-BE49-F238E27FC236}">
                <a16:creationId xmlns:a16="http://schemas.microsoft.com/office/drawing/2014/main" id="{393A68EA-A1AD-8073-2878-B7BEFB747AC1}"/>
              </a:ext>
            </a:extLst>
          </p:cNvPr>
          <p:cNvPicPr>
            <a:picLocks noChangeAspect="1"/>
          </p:cNvPicPr>
          <p:nvPr/>
        </p:nvPicPr>
        <p:blipFill>
          <a:blip r:embed="rId3"/>
          <a:stretch>
            <a:fillRect/>
          </a:stretch>
        </p:blipFill>
        <p:spPr>
          <a:xfrm>
            <a:off x="727586" y="3573351"/>
            <a:ext cx="3726425" cy="2955906"/>
          </a:xfrm>
          <a:prstGeom prst="rect">
            <a:avLst/>
          </a:prstGeom>
        </p:spPr>
      </p:pic>
      <p:sp>
        <p:nvSpPr>
          <p:cNvPr id="9" name="TextBox 8">
            <a:extLst>
              <a:ext uri="{FF2B5EF4-FFF2-40B4-BE49-F238E27FC236}">
                <a16:creationId xmlns:a16="http://schemas.microsoft.com/office/drawing/2014/main" id="{9A88EE2D-2FCB-1B6C-1AB8-1B9C8D93395C}"/>
              </a:ext>
            </a:extLst>
          </p:cNvPr>
          <p:cNvSpPr txBox="1"/>
          <p:nvPr/>
        </p:nvSpPr>
        <p:spPr>
          <a:xfrm>
            <a:off x="5900438" y="3595474"/>
            <a:ext cx="4017718" cy="2862322"/>
          </a:xfrm>
          <a:prstGeom prst="rect">
            <a:avLst/>
          </a:prstGeom>
          <a:noFill/>
        </p:spPr>
        <p:txBody>
          <a:bodyPr wrap="square" rtlCol="0">
            <a:spAutoFit/>
          </a:bodyPr>
          <a:lstStyle/>
          <a:p>
            <a:r>
              <a:rPr lang="en-IN" u="sng" noProof="1"/>
              <a:t>Presented by :</a:t>
            </a:r>
            <a:r>
              <a:rPr lang="en-IN" noProof="1"/>
              <a:t> (</a:t>
            </a:r>
            <a:r>
              <a:rPr lang="en-IN" b="1" noProof="1"/>
              <a:t>Team-B6</a:t>
            </a:r>
            <a:r>
              <a:rPr lang="en-IN" noProof="1"/>
              <a:t>)</a:t>
            </a:r>
          </a:p>
          <a:p>
            <a:br>
              <a:rPr lang="en-IN" noProof="1"/>
            </a:br>
            <a:r>
              <a:rPr lang="en-IN" noProof="1"/>
              <a:t>G.Karthikeya–  23641A67A7</a:t>
            </a:r>
            <a:br>
              <a:rPr lang="en-IN" noProof="1"/>
            </a:br>
            <a:r>
              <a:rPr lang="en-IN" noProof="1"/>
              <a:t>K.Renuka-        23641A6772</a:t>
            </a:r>
            <a:br>
              <a:rPr lang="en-IN" noProof="1"/>
            </a:br>
            <a:r>
              <a:rPr lang="en-IN" noProof="1"/>
              <a:t>M.Siri–              23641A67B6</a:t>
            </a:r>
            <a:br>
              <a:rPr lang="en-IN" noProof="1"/>
            </a:br>
            <a:r>
              <a:rPr lang="en-IN" noProof="1"/>
              <a:t>S.Rajkumar–     23641A67C0</a:t>
            </a:r>
          </a:p>
          <a:p>
            <a:br>
              <a:rPr lang="en-IN" noProof="1"/>
            </a:br>
            <a:r>
              <a:rPr lang="en-IN" u="sng" noProof="1"/>
              <a:t>Guided by :</a:t>
            </a:r>
            <a:br>
              <a:rPr lang="en-IN" noProof="1"/>
            </a:br>
            <a:r>
              <a:rPr lang="en-IN" b="1" noProof="1"/>
              <a:t>B.J.Praveen Kumar</a:t>
            </a:r>
            <a:br>
              <a:rPr lang="en-IN" noProof="1"/>
            </a:br>
            <a:r>
              <a:rPr lang="en-IN" u="sng" noProof="1"/>
              <a:t>DEPT OF CSE(DATA SCIENCE)</a:t>
            </a:r>
          </a:p>
        </p:txBody>
      </p:sp>
    </p:spTree>
    <p:extLst>
      <p:ext uri="{BB962C8B-B14F-4D97-AF65-F5344CB8AC3E}">
        <p14:creationId xmlns:p14="http://schemas.microsoft.com/office/powerpoint/2010/main" val="11416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06DDA-678F-9883-1E53-46A80579C47E}"/>
              </a:ext>
            </a:extLst>
          </p:cNvPr>
          <p:cNvSpPr txBox="1"/>
          <p:nvPr/>
        </p:nvSpPr>
        <p:spPr>
          <a:xfrm>
            <a:off x="408628" y="1351935"/>
            <a:ext cx="9345562" cy="4339650"/>
          </a:xfrm>
          <a:prstGeom prst="rect">
            <a:avLst/>
          </a:prstGeom>
          <a:noFill/>
        </p:spPr>
        <p:txBody>
          <a:bodyPr wrap="square" rtlCol="0">
            <a:spAutoFit/>
          </a:bodyPr>
          <a:lstStyle/>
          <a:p>
            <a:endParaRPr lang="en-IN" dirty="0"/>
          </a:p>
          <a:p>
            <a:pPr marL="342900" indent="-342900">
              <a:buFont typeface="Arial" panose="020B0604020202020204" pitchFamily="34" charset="0"/>
              <a:buChar char="•"/>
            </a:pPr>
            <a:r>
              <a:rPr lang="en-US" sz="2000" dirty="0"/>
              <a:t>This project focuses on predicting salary based on job-related factors using machine learning. The system analyzes a dataset containing information such as experience level, job title, company size, and location. </a:t>
            </a:r>
          </a:p>
          <a:p>
            <a:pPr marL="342900" indent="-342900">
              <a:buFont typeface="Arial" panose="020B0604020202020204" pitchFamily="34" charset="0"/>
              <a:buChar char="•"/>
            </a:pPr>
            <a:r>
              <a:rPr lang="en-US" sz="2000" dirty="0"/>
              <a:t>Data preprocessing techniques are applied to clean the dataset and prepare it for training. Different regression algorithms such as Linear Regression, KNN Regressor, and Huber Regressor are used and compared. </a:t>
            </a:r>
          </a:p>
          <a:p>
            <a:pPr marL="342900" indent="-342900">
              <a:buFont typeface="Arial" panose="020B0604020202020204" pitchFamily="34" charset="0"/>
              <a:buChar char="•"/>
            </a:pPr>
            <a:r>
              <a:rPr lang="en-US" sz="2000" dirty="0"/>
              <a:t>Hist Gradient Boosting Regressor is selected as the final model because it gives better accuracy. In this phase, we also started developing the front-end to allow users to enter details and get salary predictions easily.</a:t>
            </a:r>
            <a:endParaRPr lang="en-IN" dirty="0"/>
          </a:p>
          <a:p>
            <a:endParaRPr lang="en-IN" dirty="0"/>
          </a:p>
        </p:txBody>
      </p:sp>
      <p:sp>
        <p:nvSpPr>
          <p:cNvPr id="6" name="TextBox 5">
            <a:extLst>
              <a:ext uri="{FF2B5EF4-FFF2-40B4-BE49-F238E27FC236}">
                <a16:creationId xmlns:a16="http://schemas.microsoft.com/office/drawing/2014/main" id="{1C396176-B238-DDBA-24F3-0D7A96B58789}"/>
              </a:ext>
            </a:extLst>
          </p:cNvPr>
          <p:cNvSpPr txBox="1"/>
          <p:nvPr/>
        </p:nvSpPr>
        <p:spPr>
          <a:xfrm>
            <a:off x="2340077" y="294968"/>
            <a:ext cx="3500284" cy="769441"/>
          </a:xfrm>
          <a:prstGeom prst="rect">
            <a:avLst/>
          </a:prstGeom>
          <a:noFill/>
        </p:spPr>
        <p:txBody>
          <a:bodyPr wrap="square" rtlCol="0">
            <a:spAutoFit/>
          </a:bodyPr>
          <a:lstStyle/>
          <a:p>
            <a:r>
              <a:rPr lang="en-IN" sz="4400" b="1" u="sng" noProof="1"/>
              <a:t>ABSTRACT</a:t>
            </a:r>
            <a:r>
              <a:rPr lang="en-IN" sz="4400" noProof="1"/>
              <a:t>:</a:t>
            </a:r>
            <a:endParaRPr lang="en-IN" sz="2400" dirty="0"/>
          </a:p>
        </p:txBody>
      </p:sp>
    </p:spTree>
    <p:extLst>
      <p:ext uri="{BB962C8B-B14F-4D97-AF65-F5344CB8AC3E}">
        <p14:creationId xmlns:p14="http://schemas.microsoft.com/office/powerpoint/2010/main" val="3421787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94A627-9EB5-BBAF-8BFC-FCA2C3DE93AC}"/>
              </a:ext>
            </a:extLst>
          </p:cNvPr>
          <p:cNvSpPr txBox="1"/>
          <p:nvPr/>
        </p:nvSpPr>
        <p:spPr>
          <a:xfrm>
            <a:off x="522578" y="768469"/>
            <a:ext cx="4432880" cy="769441"/>
          </a:xfrm>
          <a:prstGeom prst="rect">
            <a:avLst/>
          </a:prstGeom>
          <a:noFill/>
        </p:spPr>
        <p:txBody>
          <a:bodyPr wrap="none" rtlCol="0">
            <a:spAutoFit/>
          </a:bodyPr>
          <a:lstStyle/>
          <a:p>
            <a:r>
              <a:rPr lang="en-IN" sz="4400" b="1" u="sng" noProof="1"/>
              <a:t>INTRODUCTION:</a:t>
            </a:r>
            <a:endParaRPr lang="en-IN" sz="4400" noProof="1"/>
          </a:p>
        </p:txBody>
      </p:sp>
      <p:sp>
        <p:nvSpPr>
          <p:cNvPr id="5" name="TextBox 4">
            <a:extLst>
              <a:ext uri="{FF2B5EF4-FFF2-40B4-BE49-F238E27FC236}">
                <a16:creationId xmlns:a16="http://schemas.microsoft.com/office/drawing/2014/main" id="{5D3E9D21-FE70-292D-B59A-54084BE24744}"/>
              </a:ext>
            </a:extLst>
          </p:cNvPr>
          <p:cNvSpPr txBox="1"/>
          <p:nvPr/>
        </p:nvSpPr>
        <p:spPr>
          <a:xfrm>
            <a:off x="303868" y="2155151"/>
            <a:ext cx="9787971" cy="2831544"/>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Today many people search for jobs in different fields. Salary is an important factor for every job seeker. But salary depends on many things like experience, job role, company size, and location. </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Many people do not know the correct salary for their role. With the help of machine learning, we can analyze job data and predict salary more accurately. This project aims to build a system that predicts salary based on job-related information.</a:t>
            </a:r>
          </a:p>
          <a:p>
            <a:endParaRPr lang="en-IN" noProof="1"/>
          </a:p>
        </p:txBody>
      </p:sp>
    </p:spTree>
    <p:extLst>
      <p:ext uri="{BB962C8B-B14F-4D97-AF65-F5344CB8AC3E}">
        <p14:creationId xmlns:p14="http://schemas.microsoft.com/office/powerpoint/2010/main" val="370908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64B588-B45D-C973-AAEF-77A358BA3200}"/>
              </a:ext>
            </a:extLst>
          </p:cNvPr>
          <p:cNvSpPr txBox="1"/>
          <p:nvPr/>
        </p:nvSpPr>
        <p:spPr>
          <a:xfrm>
            <a:off x="241590" y="728911"/>
            <a:ext cx="5344925" cy="769441"/>
          </a:xfrm>
          <a:prstGeom prst="rect">
            <a:avLst/>
          </a:prstGeom>
          <a:noFill/>
        </p:spPr>
        <p:txBody>
          <a:bodyPr wrap="none" rtlCol="0">
            <a:spAutoFit/>
          </a:bodyPr>
          <a:lstStyle/>
          <a:p>
            <a:r>
              <a:rPr lang="en-IN" sz="4400" b="1" u="sng" noProof="1"/>
              <a:t>Problem Statement</a:t>
            </a:r>
            <a:r>
              <a:rPr lang="en-IN" sz="4400" b="1" noProof="1"/>
              <a:t>:</a:t>
            </a:r>
          </a:p>
        </p:txBody>
      </p:sp>
      <p:sp>
        <p:nvSpPr>
          <p:cNvPr id="5" name="TextBox 4">
            <a:extLst>
              <a:ext uri="{FF2B5EF4-FFF2-40B4-BE49-F238E27FC236}">
                <a16:creationId xmlns:a16="http://schemas.microsoft.com/office/drawing/2014/main" id="{D1DCB35C-66CD-0386-6102-310287BE64B8}"/>
              </a:ext>
            </a:extLst>
          </p:cNvPr>
          <p:cNvSpPr txBox="1"/>
          <p:nvPr/>
        </p:nvSpPr>
        <p:spPr>
          <a:xfrm>
            <a:off x="0" y="1943328"/>
            <a:ext cx="10925908" cy="3416320"/>
          </a:xfrm>
          <a:prstGeom prst="rect">
            <a:avLst/>
          </a:prstGeom>
          <a:noFill/>
        </p:spPr>
        <p:txBody>
          <a:bodyPr wrap="square" rtlCol="0">
            <a:spAutoFit/>
          </a:bodyPr>
          <a:lstStyle/>
          <a:p>
            <a:pPr marL="342900" indent="-342900">
              <a:buFont typeface="Wingdings" panose="05000000000000000000" pitchFamily="2" charset="2"/>
              <a:buChar char="v"/>
            </a:pPr>
            <a:r>
              <a:rPr lang="en-US" sz="2400" dirty="0"/>
              <a:t>In the current job market, many job websites show salary information, but it is often not accurate or updated. Job seekers do not clearly know the expected salary for a particular role. Salary also changes based on experience, company size, and location. </a:t>
            </a:r>
          </a:p>
          <a:p>
            <a:r>
              <a:rPr lang="en-US" sz="2400" dirty="0"/>
              <a:t>    Existing systems. </a:t>
            </a:r>
          </a:p>
          <a:p>
            <a:pPr marL="342900" indent="-342900">
              <a:buFont typeface="Wingdings" panose="05000000000000000000" pitchFamily="2" charset="2"/>
              <a:buChar char="v"/>
            </a:pPr>
            <a:r>
              <a:rPr lang="en-US" sz="2400" dirty="0"/>
              <a:t>mainly show average salary data and do not provide intelligent predictions. Therefore, there is a need for a system that can analyze job data and predict salary more accurately using machine learning techniques.</a:t>
            </a:r>
            <a:endParaRPr lang="en-IN" sz="2400" noProof="1"/>
          </a:p>
        </p:txBody>
      </p:sp>
    </p:spTree>
    <p:extLst>
      <p:ext uri="{BB962C8B-B14F-4D97-AF65-F5344CB8AC3E}">
        <p14:creationId xmlns:p14="http://schemas.microsoft.com/office/powerpoint/2010/main" val="425283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43C975-43F4-F865-602D-8BB8C6FB73B1}"/>
              </a:ext>
            </a:extLst>
          </p:cNvPr>
          <p:cNvSpPr txBox="1"/>
          <p:nvPr/>
        </p:nvSpPr>
        <p:spPr>
          <a:xfrm>
            <a:off x="320565" y="484279"/>
            <a:ext cx="4389087" cy="769441"/>
          </a:xfrm>
          <a:prstGeom prst="rect">
            <a:avLst/>
          </a:prstGeom>
          <a:noFill/>
        </p:spPr>
        <p:txBody>
          <a:bodyPr wrap="none" rtlCol="0">
            <a:spAutoFit/>
          </a:bodyPr>
          <a:lstStyle/>
          <a:p>
            <a:r>
              <a:rPr lang="en-IN" sz="4400" b="1" u="sng" noProof="1"/>
              <a:t>Existing System</a:t>
            </a:r>
            <a:r>
              <a:rPr lang="en-IN" sz="4400" b="1" noProof="1"/>
              <a:t>:</a:t>
            </a:r>
          </a:p>
        </p:txBody>
      </p:sp>
      <p:sp>
        <p:nvSpPr>
          <p:cNvPr id="5" name="TextBox 4">
            <a:extLst>
              <a:ext uri="{FF2B5EF4-FFF2-40B4-BE49-F238E27FC236}">
                <a16:creationId xmlns:a16="http://schemas.microsoft.com/office/drawing/2014/main" id="{C0CA8F8D-390E-329F-2BEE-18EE2784CDBD}"/>
              </a:ext>
            </a:extLst>
          </p:cNvPr>
          <p:cNvSpPr txBox="1"/>
          <p:nvPr/>
        </p:nvSpPr>
        <p:spPr>
          <a:xfrm>
            <a:off x="320565" y="1457000"/>
            <a:ext cx="9274629" cy="4708981"/>
          </a:xfrm>
          <a:prstGeom prst="rect">
            <a:avLst/>
          </a:prstGeom>
          <a:noFill/>
        </p:spPr>
        <p:txBody>
          <a:bodyPr wrap="square" rtlCol="0" anchor="b">
            <a:spAutoFit/>
          </a:bodyPr>
          <a:lstStyle/>
          <a:p>
            <a:r>
              <a:rPr lang="en-US" sz="2000" dirty="0"/>
              <a:t>In this project, we used some basic machine learning algorithms to predict salary.</a:t>
            </a:r>
          </a:p>
          <a:p>
            <a:endParaRPr lang="en-US" sz="2000" dirty="0"/>
          </a:p>
          <a:p>
            <a:pPr marL="342900" indent="-342900">
              <a:buFont typeface="Arial" panose="020B0604020202020204" pitchFamily="34" charset="0"/>
              <a:buChar char="•"/>
            </a:pPr>
            <a:r>
              <a:rPr lang="en-US" sz="2000" b="1" dirty="0"/>
              <a:t>Linear Regression</a:t>
            </a:r>
            <a:r>
              <a:rPr lang="en-US" sz="2000" dirty="0"/>
              <a:t> predicts salary based on the relationship between input data and output.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KNN Regressor</a:t>
            </a:r>
            <a:r>
              <a:rPr lang="en-US" sz="2000" dirty="0"/>
              <a:t> predicts salary by comparing the input with similar data points in the dataset.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Huber Regressor</a:t>
            </a:r>
            <a:r>
              <a:rPr lang="en-US" sz="2000" dirty="0"/>
              <a:t> is used to handle outliers and give more stable predictions.</a:t>
            </a:r>
          </a:p>
          <a:p>
            <a:pPr marL="342900" indent="-342900">
              <a:buFont typeface="Arial" panose="020B0604020202020204" pitchFamily="34" charset="0"/>
              <a:buChar char="•"/>
            </a:pPr>
            <a:endParaRPr lang="en-US" sz="2000" dirty="0"/>
          </a:p>
          <a:p>
            <a:r>
              <a:rPr lang="en-US" sz="2000" dirty="0"/>
              <a:t>These algorithms are trained on the dataset and their performance is compared to find the better model.</a:t>
            </a:r>
          </a:p>
          <a:p>
            <a:pPr marL="342900" indent="-342900">
              <a:buFont typeface="+mj-lt"/>
              <a:buAutoNum type="arabicPeriod"/>
            </a:pPr>
            <a:endParaRPr lang="en-IN" sz="2000" noProof="1"/>
          </a:p>
        </p:txBody>
      </p:sp>
    </p:spTree>
    <p:extLst>
      <p:ext uri="{BB962C8B-B14F-4D97-AF65-F5344CB8AC3E}">
        <p14:creationId xmlns:p14="http://schemas.microsoft.com/office/powerpoint/2010/main" val="349344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74629C-D956-DF56-1CA3-696EE6C6334E}"/>
              </a:ext>
            </a:extLst>
          </p:cNvPr>
          <p:cNvSpPr txBox="1"/>
          <p:nvPr/>
        </p:nvSpPr>
        <p:spPr>
          <a:xfrm>
            <a:off x="469571" y="471856"/>
            <a:ext cx="4833952" cy="769441"/>
          </a:xfrm>
          <a:prstGeom prst="rect">
            <a:avLst/>
          </a:prstGeom>
          <a:noFill/>
        </p:spPr>
        <p:txBody>
          <a:bodyPr wrap="none" rtlCol="0">
            <a:spAutoFit/>
          </a:bodyPr>
          <a:lstStyle/>
          <a:p>
            <a:r>
              <a:rPr lang="en-IN" sz="4400" b="1" u="sng" noProof="1"/>
              <a:t>Proposed System</a:t>
            </a:r>
            <a:r>
              <a:rPr lang="en-IN" sz="4400" b="1" noProof="1"/>
              <a:t>:</a:t>
            </a:r>
          </a:p>
        </p:txBody>
      </p:sp>
      <p:sp>
        <p:nvSpPr>
          <p:cNvPr id="5" name="TextBox 4">
            <a:extLst>
              <a:ext uri="{FF2B5EF4-FFF2-40B4-BE49-F238E27FC236}">
                <a16:creationId xmlns:a16="http://schemas.microsoft.com/office/drawing/2014/main" id="{C145D86D-115A-2D6C-099A-57BD72DB1559}"/>
              </a:ext>
            </a:extLst>
          </p:cNvPr>
          <p:cNvSpPr txBox="1"/>
          <p:nvPr/>
        </p:nvSpPr>
        <p:spPr>
          <a:xfrm>
            <a:off x="0" y="1477108"/>
            <a:ext cx="10315011"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In the proposed system, we use machine learning to predict salary more accurately. The dataset is first cleaned and prepared using preprocessing techniques.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Important features like experience level, job role, and company size are used for training the model. Different algorithms are trained and their performance is compared.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Hist Gradient Boosting Regressor is selected as the final model because it gives better accuracy. The system can predict salary based on the user input data.</a:t>
            </a:r>
          </a:p>
          <a:p>
            <a:endParaRPr lang="en-IN" sz="2400" noProof="1"/>
          </a:p>
        </p:txBody>
      </p:sp>
    </p:spTree>
    <p:extLst>
      <p:ext uri="{BB962C8B-B14F-4D97-AF65-F5344CB8AC3E}">
        <p14:creationId xmlns:p14="http://schemas.microsoft.com/office/powerpoint/2010/main" val="131574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6C48ED5-FC10-92E5-CB59-94A809FFBA30}"/>
              </a:ext>
            </a:extLst>
          </p:cNvPr>
          <p:cNvSpPr txBox="1"/>
          <p:nvPr/>
        </p:nvSpPr>
        <p:spPr>
          <a:xfrm>
            <a:off x="1789471" y="530942"/>
            <a:ext cx="6567824" cy="769441"/>
          </a:xfrm>
          <a:prstGeom prst="rect">
            <a:avLst/>
          </a:prstGeom>
          <a:noFill/>
        </p:spPr>
        <p:txBody>
          <a:bodyPr wrap="none" rtlCol="0">
            <a:spAutoFit/>
          </a:bodyPr>
          <a:lstStyle/>
          <a:p>
            <a:r>
              <a:rPr lang="en-IN" sz="4400" b="1" u="sng" noProof="1"/>
              <a:t>Software Requirements</a:t>
            </a:r>
            <a:r>
              <a:rPr lang="en-IN" sz="4400" b="1" noProof="1"/>
              <a:t>:</a:t>
            </a:r>
          </a:p>
        </p:txBody>
      </p:sp>
      <p:sp>
        <p:nvSpPr>
          <p:cNvPr id="11" name="Rectangle 4">
            <a:extLst>
              <a:ext uri="{FF2B5EF4-FFF2-40B4-BE49-F238E27FC236}">
                <a16:creationId xmlns:a16="http://schemas.microsoft.com/office/drawing/2014/main" id="{CA7BC6E6-D049-D6D5-A3E8-55B66DD6ED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IN" sz="1800" b="0" i="0" u="none" strike="noStrike" cap="none" normalizeH="0" baseline="0" noProof="1">
                <a:ln>
                  <a:noFill/>
                </a:ln>
                <a:solidFill>
                  <a:schemeClr val="tx1"/>
                </a:solidFill>
                <a:effectLst/>
                <a:latin typeface="Arial" panose="020B0604020202020204" pitchFamily="34" charset="0"/>
              </a:rPr>
              <a:t>Scikit-learn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IN" sz="1800" b="0" i="0" u="none" strike="noStrike" cap="none" normalizeH="0" baseline="0" noProof="1">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162256E0-C519-9494-C28A-F249381FA918}"/>
              </a:ext>
            </a:extLst>
          </p:cNvPr>
          <p:cNvSpPr txBox="1"/>
          <p:nvPr/>
        </p:nvSpPr>
        <p:spPr>
          <a:xfrm>
            <a:off x="84230" y="1444464"/>
            <a:ext cx="10482170" cy="4524315"/>
          </a:xfrm>
          <a:prstGeom prst="rect">
            <a:avLst/>
          </a:prstGeom>
          <a:noFill/>
        </p:spPr>
        <p:txBody>
          <a:bodyPr wrap="square" rtlCol="0">
            <a:spAutoFit/>
          </a:bodyPr>
          <a:lstStyle/>
          <a:p>
            <a:pPr marL="285750" indent="-285750">
              <a:buFont typeface="Arial" panose="020B0604020202020204" pitchFamily="34" charset="0"/>
              <a:buChar char="•"/>
            </a:pPr>
            <a:endParaRPr lang="en-IN" noProof="1"/>
          </a:p>
          <a:p>
            <a:pPr>
              <a:buFont typeface="+mj-lt"/>
              <a:buAutoNum type="arabicPeriod"/>
            </a:pPr>
            <a:r>
              <a:rPr lang="en-IN" b="1" noProof="1"/>
              <a:t>Programming Language </a:t>
            </a:r>
            <a:r>
              <a:rPr lang="en-IN" noProof="1"/>
              <a:t>: Python</a:t>
            </a:r>
          </a:p>
          <a:p>
            <a:pPr>
              <a:buFont typeface="+mj-lt"/>
              <a:buAutoNum type="arabicPeriod"/>
            </a:pPr>
            <a:r>
              <a:rPr lang="en-IN" b="1" noProof="1"/>
              <a:t>Development Environment</a:t>
            </a:r>
            <a:r>
              <a:rPr lang="en-IN" noProof="1"/>
              <a:t>:Jupyter Notebook / Google Colab / VS Code</a:t>
            </a:r>
          </a:p>
          <a:p>
            <a:pPr>
              <a:buFont typeface="+mj-lt"/>
              <a:buAutoNum type="arabicPeriod"/>
            </a:pPr>
            <a:r>
              <a:rPr lang="en-IN" b="1" noProof="1"/>
              <a:t>Libraries Used</a:t>
            </a:r>
            <a:r>
              <a:rPr lang="en-IN" noProof="1"/>
              <a:t>:</a:t>
            </a:r>
          </a:p>
          <a:p>
            <a:pPr lvl="1"/>
            <a:r>
              <a:rPr lang="en-IN" noProof="1"/>
              <a:t>NumPy (</a:t>
            </a:r>
            <a:r>
              <a:rPr lang="en-US" dirty="0"/>
              <a:t>It is used for numerical computations)</a:t>
            </a:r>
            <a:endParaRPr lang="en-IN" noProof="1"/>
          </a:p>
          <a:p>
            <a:pPr lvl="1"/>
            <a:r>
              <a:rPr lang="en-IN" noProof="1"/>
              <a:t>Pandas (</a:t>
            </a:r>
            <a:r>
              <a:rPr lang="en-US" dirty="0"/>
              <a:t>It is used for data manipulation and analysis)</a:t>
            </a:r>
            <a:endParaRPr lang="en-IN" noProof="1"/>
          </a:p>
          <a:p>
            <a:pPr lvl="1"/>
            <a:r>
              <a:rPr lang="en-IN" noProof="1"/>
              <a:t>Matplotlib (</a:t>
            </a:r>
            <a:r>
              <a:rPr lang="en-US"/>
              <a:t>It is used for data visualization)</a:t>
            </a:r>
            <a:endParaRPr lang="en-IN" noProof="1"/>
          </a:p>
          <a:p>
            <a:pPr lvl="1"/>
            <a:r>
              <a:rPr lang="en-IN" noProof="1"/>
              <a:t>scikit-learn (</a:t>
            </a:r>
            <a:r>
              <a:rPr lang="en-US" dirty="0"/>
              <a:t>It is used for implementing machine learning models)</a:t>
            </a:r>
            <a:endParaRPr lang="en-IN" noProof="1"/>
          </a:p>
          <a:p>
            <a:pPr lvl="1"/>
            <a:r>
              <a:rPr lang="en-IN" noProof="1"/>
              <a:t>Joblib (</a:t>
            </a:r>
            <a:r>
              <a:rPr lang="en-US" dirty="0"/>
              <a:t>It is used for saving and loading models efficiently)</a:t>
            </a:r>
            <a:endParaRPr lang="en-IN" noProof="1"/>
          </a:p>
          <a:p>
            <a:pPr>
              <a:buFont typeface="+mj-lt"/>
              <a:buAutoNum type="arabicPeriod"/>
            </a:pPr>
            <a:r>
              <a:rPr lang="en-IN" b="1" noProof="1"/>
              <a:t>Machine Learning Algorithms</a:t>
            </a:r>
          </a:p>
          <a:p>
            <a:pPr lvl="1"/>
            <a:r>
              <a:rPr lang="en-IN" noProof="1"/>
              <a:t>Linear Regression (</a:t>
            </a:r>
            <a:r>
              <a:rPr lang="en-US" dirty="0"/>
              <a:t>It predicts values using a linear relationship)</a:t>
            </a:r>
            <a:endParaRPr lang="en-IN" noProof="1"/>
          </a:p>
          <a:p>
            <a:pPr lvl="1"/>
            <a:r>
              <a:rPr lang="en-IN" noProof="1"/>
              <a:t>KNN Regressor (</a:t>
            </a:r>
            <a:r>
              <a:rPr lang="en-US" dirty="0"/>
              <a:t>It predicts based on similar nearby data points)</a:t>
            </a:r>
            <a:endParaRPr lang="en-IN" noProof="1"/>
          </a:p>
          <a:p>
            <a:pPr lvl="1"/>
            <a:r>
              <a:rPr lang="en-IN" noProof="1"/>
              <a:t>Huber Regressor (I</a:t>
            </a:r>
            <a:r>
              <a:rPr lang="en-US" dirty="0"/>
              <a:t>t handles outliers effectively during prediction)</a:t>
            </a:r>
            <a:endParaRPr lang="en-IN" noProof="1"/>
          </a:p>
          <a:p>
            <a:pPr lvl="1"/>
            <a:r>
              <a:rPr lang="en-IN" noProof="1"/>
              <a:t>Hist Gradient Boosting Regressor (</a:t>
            </a:r>
            <a:r>
              <a:rPr lang="en-US" dirty="0"/>
              <a:t>It improves accuracy using multiple combined models)</a:t>
            </a:r>
            <a:endParaRPr lang="en-IN" noProof="1"/>
          </a:p>
          <a:p>
            <a:pPr marL="285750" indent="-285750">
              <a:buFont typeface="Arial" panose="020B0604020202020204" pitchFamily="34" charset="0"/>
              <a:buChar char="•"/>
            </a:pPr>
            <a:endParaRPr lang="en-IN" noProof="1"/>
          </a:p>
          <a:p>
            <a:endParaRPr lang="en-IN" noProof="1"/>
          </a:p>
        </p:txBody>
      </p:sp>
    </p:spTree>
    <p:extLst>
      <p:ext uri="{BB962C8B-B14F-4D97-AF65-F5344CB8AC3E}">
        <p14:creationId xmlns:p14="http://schemas.microsoft.com/office/powerpoint/2010/main" val="428448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228643-BF4B-74E9-FB4C-A9F16C00A1B5}"/>
              </a:ext>
            </a:extLst>
          </p:cNvPr>
          <p:cNvSpPr txBox="1"/>
          <p:nvPr/>
        </p:nvSpPr>
        <p:spPr>
          <a:xfrm>
            <a:off x="0" y="573836"/>
            <a:ext cx="10201704" cy="646331"/>
          </a:xfrm>
          <a:prstGeom prst="rect">
            <a:avLst/>
          </a:prstGeom>
          <a:noFill/>
        </p:spPr>
        <p:txBody>
          <a:bodyPr wrap="none" rtlCol="0">
            <a:spAutoFit/>
          </a:bodyPr>
          <a:lstStyle/>
          <a:p>
            <a:r>
              <a:rPr lang="en-IN" sz="3600" b="1" u="sng" noProof="1"/>
              <a:t>System Architecture (Salary Prediction System)</a:t>
            </a:r>
            <a:r>
              <a:rPr lang="en-IN" sz="3600" b="1" noProof="1"/>
              <a:t>:</a:t>
            </a:r>
          </a:p>
        </p:txBody>
      </p:sp>
      <p:pic>
        <p:nvPicPr>
          <p:cNvPr id="3" name="Picture 2">
            <a:extLst>
              <a:ext uri="{FF2B5EF4-FFF2-40B4-BE49-F238E27FC236}">
                <a16:creationId xmlns:a16="http://schemas.microsoft.com/office/drawing/2014/main" id="{2B15F57A-2101-AD68-C2F7-1D9F4CB0E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8" y="1484671"/>
            <a:ext cx="8544232" cy="4425867"/>
          </a:xfrm>
          <a:prstGeom prst="rect">
            <a:avLst/>
          </a:prstGeom>
        </p:spPr>
      </p:pic>
    </p:spTree>
    <p:extLst>
      <p:ext uri="{BB962C8B-B14F-4D97-AF65-F5344CB8AC3E}">
        <p14:creationId xmlns:p14="http://schemas.microsoft.com/office/powerpoint/2010/main" val="3564402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BDFA8-26F2-7781-B1D2-F9F949B953FB}"/>
              </a:ext>
            </a:extLst>
          </p:cNvPr>
          <p:cNvSpPr>
            <a:spLocks noGrp="1"/>
          </p:cNvSpPr>
          <p:nvPr>
            <p:ph type="title"/>
          </p:nvPr>
        </p:nvSpPr>
        <p:spPr/>
        <p:txBody>
          <a:bodyPr/>
          <a:lstStyle/>
          <a:p>
            <a:r>
              <a:rPr lang="en-IN" u="sng" noProof="1">
                <a:solidFill>
                  <a:schemeClr val="tx1"/>
                </a:solidFill>
              </a:rPr>
              <a:t>Conclusion</a:t>
            </a:r>
            <a:r>
              <a:rPr lang="en-IN" noProof="1">
                <a:solidFill>
                  <a:schemeClr val="tx1"/>
                </a:solidFill>
              </a:rPr>
              <a:t>:</a:t>
            </a:r>
          </a:p>
        </p:txBody>
      </p:sp>
      <p:sp>
        <p:nvSpPr>
          <p:cNvPr id="3" name="Content Placeholder 2">
            <a:extLst>
              <a:ext uri="{FF2B5EF4-FFF2-40B4-BE49-F238E27FC236}">
                <a16:creationId xmlns:a16="http://schemas.microsoft.com/office/drawing/2014/main" id="{F0C3C6B3-998F-7159-BA7E-315BE3D6D7DD}"/>
              </a:ext>
            </a:extLst>
          </p:cNvPr>
          <p:cNvSpPr>
            <a:spLocks noGrp="1"/>
          </p:cNvSpPr>
          <p:nvPr>
            <p:ph idx="1"/>
          </p:nvPr>
        </p:nvSpPr>
        <p:spPr>
          <a:xfrm>
            <a:off x="560439" y="1836174"/>
            <a:ext cx="9488129" cy="2617839"/>
          </a:xfrm>
        </p:spPr>
        <p:txBody>
          <a:bodyPr>
            <a:normAutofit/>
          </a:bodyPr>
          <a:lstStyle/>
          <a:p>
            <a:pPr marL="0" indent="0">
              <a:buNone/>
            </a:pPr>
            <a:r>
              <a:rPr lang="en-US" sz="2400" dirty="0"/>
              <a:t>In this project, we worked on analyzing the salary dataset and trained machine learning models to predict salaries. Different algorithms were tested to find the best model for accurate prediction. This system helps in understanding how factors like experience, job role, and company size affect salary.</a:t>
            </a:r>
            <a:endParaRPr lang="en-IN" sz="2400" noProof="1"/>
          </a:p>
        </p:txBody>
      </p:sp>
    </p:spTree>
    <p:extLst>
      <p:ext uri="{BB962C8B-B14F-4D97-AF65-F5344CB8AC3E}">
        <p14:creationId xmlns:p14="http://schemas.microsoft.com/office/powerpoint/2010/main" val="1763496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677E62-993B-1F46-6E45-0D4BCC9E8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2100" y="544285"/>
            <a:ext cx="9584871" cy="5769429"/>
          </a:xfrm>
          <a:prstGeom prst="rect">
            <a:avLst/>
          </a:prstGeom>
        </p:spPr>
      </p:pic>
    </p:spTree>
    <p:extLst>
      <p:ext uri="{BB962C8B-B14F-4D97-AF65-F5344CB8AC3E}">
        <p14:creationId xmlns:p14="http://schemas.microsoft.com/office/powerpoint/2010/main" val="20599191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346</TotalTime>
  <Words>715</Words>
  <Application>Microsoft Office PowerPoint</Application>
  <PresentationFormat>Widescreen</PresentationFormat>
  <Paragraphs>55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Gopishetti KARTHIKEYA</dc:creator>
  <cp:lastModifiedBy>Gopishetti KARTHIKEYA</cp:lastModifiedBy>
  <cp:revision>1</cp:revision>
  <dcterms:created xsi:type="dcterms:W3CDTF">2026-02-16T16:59:07Z</dcterms:created>
  <dcterms:modified xsi:type="dcterms:W3CDTF">2026-03-29T13:34:59Z</dcterms:modified>
</cp:coreProperties>
</file>